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59" r:id="rId7"/>
    <p:sldId id="269" r:id="rId8"/>
    <p:sldId id="270" r:id="rId9"/>
    <p:sldId id="273" r:id="rId10"/>
    <p:sldId id="262" r:id="rId11"/>
    <p:sldId id="274" r:id="rId12"/>
    <p:sldId id="275" r:id="rId13"/>
    <p:sldId id="267" r:id="rId14"/>
    <p:sldId id="268" r:id="rId15"/>
    <p:sldId id="277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5EEB9-6A1D-4975-AF39-CE0D864DEC50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EE73CF-24A9-45A3-B776-6958D0A29ECE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500"/>
            <a:t>The BLDC motor is powered up through an Electronic Speed Controller (ESC) controlled by the microcontroller.</a:t>
          </a:r>
          <a:endParaRPr lang="en-US" sz="1500" dirty="0"/>
        </a:p>
      </dgm:t>
    </dgm:pt>
    <dgm:pt modelId="{C1EBAE42-B6A9-4A4A-89BA-D938275BF67A}" type="parTrans" cxnId="{C4B20479-38A6-4BA7-8F46-B3F5E5DC0B81}">
      <dgm:prSet/>
      <dgm:spPr/>
      <dgm:t>
        <a:bodyPr/>
        <a:lstStyle/>
        <a:p>
          <a:endParaRPr lang="en-US"/>
        </a:p>
      </dgm:t>
    </dgm:pt>
    <dgm:pt modelId="{D3F10185-84F7-4251-862B-CF5F69E8B605}" type="sibTrans" cxnId="{C4B20479-38A6-4BA7-8F46-B3F5E5DC0B81}">
      <dgm:prSet/>
      <dgm:spPr/>
      <dgm:t>
        <a:bodyPr/>
        <a:lstStyle/>
        <a:p>
          <a:endParaRPr lang="en-US"/>
        </a:p>
      </dgm:t>
    </dgm:pt>
    <dgm:pt modelId="{9577CBA3-789D-4887-BA93-5B865ADDE538}">
      <dgm:prSet custT="1"/>
      <dgm:spPr/>
      <dgm:t>
        <a:bodyPr/>
        <a:lstStyle/>
        <a:p>
          <a:r>
            <a:rPr lang="en-US" sz="1500"/>
            <a:t>Thrust is measured using a load cell connected to the HX711 amplifier module.</a:t>
          </a:r>
          <a:endParaRPr lang="en-US" sz="1500" dirty="0"/>
        </a:p>
      </dgm:t>
    </dgm:pt>
    <dgm:pt modelId="{2EF087B0-A91C-46F5-B382-D86E5E1B4DB8}" type="parTrans" cxnId="{D35878CB-AC32-454C-90D9-178E7118C7B1}">
      <dgm:prSet/>
      <dgm:spPr/>
      <dgm:t>
        <a:bodyPr/>
        <a:lstStyle/>
        <a:p>
          <a:endParaRPr lang="en-US"/>
        </a:p>
      </dgm:t>
    </dgm:pt>
    <dgm:pt modelId="{1919DCD4-BF41-4E21-90C9-816A187F8FBF}" type="sibTrans" cxnId="{D35878CB-AC32-454C-90D9-178E7118C7B1}">
      <dgm:prSet/>
      <dgm:spPr/>
      <dgm:t>
        <a:bodyPr/>
        <a:lstStyle/>
        <a:p>
          <a:endParaRPr lang="en-US"/>
        </a:p>
      </dgm:t>
    </dgm:pt>
    <dgm:pt modelId="{29D4198E-D0BD-4E9B-8AB9-DBA059F8EFD3}">
      <dgm:prSet custT="1"/>
      <dgm:spPr/>
      <dgm:t>
        <a:bodyPr/>
        <a:lstStyle/>
        <a:p>
          <a:r>
            <a:rPr lang="en-US" sz="1500"/>
            <a:t>Voltage and Current are monitored via a Power Module interfaced with 16-bit ADC for accurate readings.</a:t>
          </a:r>
          <a:endParaRPr lang="en-US" sz="1500" dirty="0"/>
        </a:p>
      </dgm:t>
    </dgm:pt>
    <dgm:pt modelId="{B1DB9236-1D22-44E7-9A7A-C1C2E79D8574}" type="parTrans" cxnId="{EF7A1004-8A59-4B6F-A54F-8DEFB23604DB}">
      <dgm:prSet/>
      <dgm:spPr/>
      <dgm:t>
        <a:bodyPr/>
        <a:lstStyle/>
        <a:p>
          <a:endParaRPr lang="en-US"/>
        </a:p>
      </dgm:t>
    </dgm:pt>
    <dgm:pt modelId="{670982E5-1940-4F0F-AE08-9818C71FAE05}" type="sibTrans" cxnId="{EF7A1004-8A59-4B6F-A54F-8DEFB23604DB}">
      <dgm:prSet/>
      <dgm:spPr/>
      <dgm:t>
        <a:bodyPr/>
        <a:lstStyle/>
        <a:p>
          <a:endParaRPr lang="en-US"/>
        </a:p>
      </dgm:t>
    </dgm:pt>
    <dgm:pt modelId="{B829695F-272B-4271-95DA-A112064751EC}">
      <dgm:prSet custT="1"/>
      <dgm:spPr/>
      <dgm:t>
        <a:bodyPr/>
        <a:lstStyle/>
        <a:p>
          <a:r>
            <a:rPr lang="en-US" sz="1500"/>
            <a:t>ESP32 microcontroller handles motor control, sensor data processing, and logs result to the dashboard.</a:t>
          </a:r>
          <a:endParaRPr lang="en-US" sz="1500" dirty="0"/>
        </a:p>
      </dgm:t>
    </dgm:pt>
    <dgm:pt modelId="{6FE70A00-FE06-4F50-BDA1-138DAF4DC70D}" type="parTrans" cxnId="{7B15B4F1-D909-4D0D-ACBB-9E9749FCFC55}">
      <dgm:prSet/>
      <dgm:spPr/>
      <dgm:t>
        <a:bodyPr/>
        <a:lstStyle/>
        <a:p>
          <a:endParaRPr lang="en-US"/>
        </a:p>
      </dgm:t>
    </dgm:pt>
    <dgm:pt modelId="{A5654C3E-6B51-4FF7-B198-4FECBB71ADBC}" type="sibTrans" cxnId="{7B15B4F1-D909-4D0D-ACBB-9E9749FCFC55}">
      <dgm:prSet/>
      <dgm:spPr/>
      <dgm:t>
        <a:bodyPr/>
        <a:lstStyle/>
        <a:p>
          <a:endParaRPr lang="en-US"/>
        </a:p>
      </dgm:t>
    </dgm:pt>
    <dgm:pt modelId="{54DA617C-BDF5-4A09-A316-FC7F0975D3DF}" type="pres">
      <dgm:prSet presAssocID="{F725EEB9-6A1D-4975-AF39-CE0D864DEC50}" presName="linearFlow" presStyleCnt="0">
        <dgm:presLayoutVars>
          <dgm:resizeHandles val="exact"/>
        </dgm:presLayoutVars>
      </dgm:prSet>
      <dgm:spPr/>
    </dgm:pt>
    <dgm:pt modelId="{3DED7513-B275-4420-9643-6A78AAF2AF12}" type="pres">
      <dgm:prSet presAssocID="{0FEE73CF-24A9-45A3-B776-6958D0A29ECE}" presName="node" presStyleLbl="node1" presStyleIdx="0" presStyleCnt="4" custScaleX="200641">
        <dgm:presLayoutVars>
          <dgm:bulletEnabled val="1"/>
        </dgm:presLayoutVars>
      </dgm:prSet>
      <dgm:spPr/>
    </dgm:pt>
    <dgm:pt modelId="{B5998DA3-6A8A-45BD-B305-99DB2B6D96EF}" type="pres">
      <dgm:prSet presAssocID="{D3F10185-84F7-4251-862B-CF5F69E8B605}" presName="sibTrans" presStyleLbl="sibTrans2D1" presStyleIdx="0" presStyleCnt="3"/>
      <dgm:spPr/>
    </dgm:pt>
    <dgm:pt modelId="{62BFFDDE-6BC6-4438-B846-1A908504660E}" type="pres">
      <dgm:prSet presAssocID="{D3F10185-84F7-4251-862B-CF5F69E8B605}" presName="connectorText" presStyleLbl="sibTrans2D1" presStyleIdx="0" presStyleCnt="3"/>
      <dgm:spPr/>
    </dgm:pt>
    <dgm:pt modelId="{29F75F6C-C9B0-4F8D-9931-BC6E1853E62F}" type="pres">
      <dgm:prSet presAssocID="{9577CBA3-789D-4887-BA93-5B865ADDE538}" presName="node" presStyleLbl="node1" presStyleIdx="1" presStyleCnt="4" custScaleX="201244" custLinFactNeighborX="11" custLinFactNeighborY="-6605">
        <dgm:presLayoutVars>
          <dgm:bulletEnabled val="1"/>
        </dgm:presLayoutVars>
      </dgm:prSet>
      <dgm:spPr/>
    </dgm:pt>
    <dgm:pt modelId="{4A3CC90B-A710-4301-ACDB-D2B8C223C76C}" type="pres">
      <dgm:prSet presAssocID="{1919DCD4-BF41-4E21-90C9-816A187F8FBF}" presName="sibTrans" presStyleLbl="sibTrans2D1" presStyleIdx="1" presStyleCnt="3"/>
      <dgm:spPr/>
    </dgm:pt>
    <dgm:pt modelId="{47CF8462-6610-49AE-85AC-5619D8E50EDF}" type="pres">
      <dgm:prSet presAssocID="{1919DCD4-BF41-4E21-90C9-816A187F8FBF}" presName="connectorText" presStyleLbl="sibTrans2D1" presStyleIdx="1" presStyleCnt="3"/>
      <dgm:spPr/>
    </dgm:pt>
    <dgm:pt modelId="{65613CFA-7AA0-4458-9BFC-5A60FACA734D}" type="pres">
      <dgm:prSet presAssocID="{29D4198E-D0BD-4E9B-8AB9-DBA059F8EFD3}" presName="node" presStyleLbl="node1" presStyleIdx="2" presStyleCnt="4" custScaleX="201891">
        <dgm:presLayoutVars>
          <dgm:bulletEnabled val="1"/>
        </dgm:presLayoutVars>
      </dgm:prSet>
      <dgm:spPr/>
    </dgm:pt>
    <dgm:pt modelId="{0DDC2182-9CC5-446F-A798-F71E9EA8B612}" type="pres">
      <dgm:prSet presAssocID="{670982E5-1940-4F0F-AE08-9818C71FAE05}" presName="sibTrans" presStyleLbl="sibTrans2D1" presStyleIdx="2" presStyleCnt="3"/>
      <dgm:spPr/>
    </dgm:pt>
    <dgm:pt modelId="{E2E35073-72B0-465E-A5B5-E2281104EF7A}" type="pres">
      <dgm:prSet presAssocID="{670982E5-1940-4F0F-AE08-9818C71FAE05}" presName="connectorText" presStyleLbl="sibTrans2D1" presStyleIdx="2" presStyleCnt="3"/>
      <dgm:spPr/>
    </dgm:pt>
    <dgm:pt modelId="{F31D4158-71FB-4004-BE67-F6B9F9FBC95F}" type="pres">
      <dgm:prSet presAssocID="{B829695F-272B-4271-95DA-A112064751EC}" presName="node" presStyleLbl="node1" presStyleIdx="3" presStyleCnt="4" custScaleX="201891">
        <dgm:presLayoutVars>
          <dgm:bulletEnabled val="1"/>
        </dgm:presLayoutVars>
      </dgm:prSet>
      <dgm:spPr/>
    </dgm:pt>
  </dgm:ptLst>
  <dgm:cxnLst>
    <dgm:cxn modelId="{EF7A1004-8A59-4B6F-A54F-8DEFB23604DB}" srcId="{F725EEB9-6A1D-4975-AF39-CE0D864DEC50}" destId="{29D4198E-D0BD-4E9B-8AB9-DBA059F8EFD3}" srcOrd="2" destOrd="0" parTransId="{B1DB9236-1D22-44E7-9A7A-C1C2E79D8574}" sibTransId="{670982E5-1940-4F0F-AE08-9818C71FAE05}"/>
    <dgm:cxn modelId="{4960E10A-CADD-431A-92E9-F85A18B37643}" type="presOf" srcId="{9577CBA3-789D-4887-BA93-5B865ADDE538}" destId="{29F75F6C-C9B0-4F8D-9931-BC6E1853E62F}" srcOrd="0" destOrd="0" presId="urn:microsoft.com/office/officeart/2005/8/layout/process2"/>
    <dgm:cxn modelId="{3E2ED22A-BBB6-4792-B78B-4836DE56F078}" type="presOf" srcId="{D3F10185-84F7-4251-862B-CF5F69E8B605}" destId="{62BFFDDE-6BC6-4438-B846-1A908504660E}" srcOrd="1" destOrd="0" presId="urn:microsoft.com/office/officeart/2005/8/layout/process2"/>
    <dgm:cxn modelId="{799CEA2D-9A98-461B-8A50-CB21BF107B5C}" type="presOf" srcId="{670982E5-1940-4F0F-AE08-9818C71FAE05}" destId="{0DDC2182-9CC5-446F-A798-F71E9EA8B612}" srcOrd="0" destOrd="0" presId="urn:microsoft.com/office/officeart/2005/8/layout/process2"/>
    <dgm:cxn modelId="{294C142F-477F-438D-B93F-CB301C3283F5}" type="presOf" srcId="{F725EEB9-6A1D-4975-AF39-CE0D864DEC50}" destId="{54DA617C-BDF5-4A09-A316-FC7F0975D3DF}" srcOrd="0" destOrd="0" presId="urn:microsoft.com/office/officeart/2005/8/layout/process2"/>
    <dgm:cxn modelId="{DCF4A642-CB8E-4AE5-91A7-47A0DE648C00}" type="presOf" srcId="{1919DCD4-BF41-4E21-90C9-816A187F8FBF}" destId="{47CF8462-6610-49AE-85AC-5619D8E50EDF}" srcOrd="1" destOrd="0" presId="urn:microsoft.com/office/officeart/2005/8/layout/process2"/>
    <dgm:cxn modelId="{A352924C-49D2-4170-82DF-ABD32AC0396B}" type="presOf" srcId="{0FEE73CF-24A9-45A3-B776-6958D0A29ECE}" destId="{3DED7513-B275-4420-9643-6A78AAF2AF12}" srcOrd="0" destOrd="0" presId="urn:microsoft.com/office/officeart/2005/8/layout/process2"/>
    <dgm:cxn modelId="{F0B0A453-AFD0-4DD0-BB42-3BA636F376EB}" type="presOf" srcId="{29D4198E-D0BD-4E9B-8AB9-DBA059F8EFD3}" destId="{65613CFA-7AA0-4458-9BFC-5A60FACA734D}" srcOrd="0" destOrd="0" presId="urn:microsoft.com/office/officeart/2005/8/layout/process2"/>
    <dgm:cxn modelId="{C4B20479-38A6-4BA7-8F46-B3F5E5DC0B81}" srcId="{F725EEB9-6A1D-4975-AF39-CE0D864DEC50}" destId="{0FEE73CF-24A9-45A3-B776-6958D0A29ECE}" srcOrd="0" destOrd="0" parTransId="{C1EBAE42-B6A9-4A4A-89BA-D938275BF67A}" sibTransId="{D3F10185-84F7-4251-862B-CF5F69E8B605}"/>
    <dgm:cxn modelId="{6DC2DF7C-B5D0-4D39-B267-7862CA40EEE5}" type="presOf" srcId="{B829695F-272B-4271-95DA-A112064751EC}" destId="{F31D4158-71FB-4004-BE67-F6B9F9FBC95F}" srcOrd="0" destOrd="0" presId="urn:microsoft.com/office/officeart/2005/8/layout/process2"/>
    <dgm:cxn modelId="{D35878CB-AC32-454C-90D9-178E7118C7B1}" srcId="{F725EEB9-6A1D-4975-AF39-CE0D864DEC50}" destId="{9577CBA3-789D-4887-BA93-5B865ADDE538}" srcOrd="1" destOrd="0" parTransId="{2EF087B0-A91C-46F5-B382-D86E5E1B4DB8}" sibTransId="{1919DCD4-BF41-4E21-90C9-816A187F8FBF}"/>
    <dgm:cxn modelId="{98AF42DF-A51D-4362-9A11-CA4C4C99A71D}" type="presOf" srcId="{670982E5-1940-4F0F-AE08-9818C71FAE05}" destId="{E2E35073-72B0-465E-A5B5-E2281104EF7A}" srcOrd="1" destOrd="0" presId="urn:microsoft.com/office/officeart/2005/8/layout/process2"/>
    <dgm:cxn modelId="{7B15B4F1-D909-4D0D-ACBB-9E9749FCFC55}" srcId="{F725EEB9-6A1D-4975-AF39-CE0D864DEC50}" destId="{B829695F-272B-4271-95DA-A112064751EC}" srcOrd="3" destOrd="0" parTransId="{6FE70A00-FE06-4F50-BDA1-138DAF4DC70D}" sibTransId="{A5654C3E-6B51-4FF7-B198-4FECBB71ADBC}"/>
    <dgm:cxn modelId="{3BC8C4F1-91BE-42EA-B751-E6A920B3B8C1}" type="presOf" srcId="{1919DCD4-BF41-4E21-90C9-816A187F8FBF}" destId="{4A3CC90B-A710-4301-ACDB-D2B8C223C76C}" srcOrd="0" destOrd="0" presId="urn:microsoft.com/office/officeart/2005/8/layout/process2"/>
    <dgm:cxn modelId="{FECF03F2-F6C5-41C4-906D-0F8FA7016B3C}" type="presOf" srcId="{D3F10185-84F7-4251-862B-CF5F69E8B605}" destId="{B5998DA3-6A8A-45BD-B305-99DB2B6D96EF}" srcOrd="0" destOrd="0" presId="urn:microsoft.com/office/officeart/2005/8/layout/process2"/>
    <dgm:cxn modelId="{D25AB8CE-8606-4D64-82B8-0CB2913DB0B2}" type="presParOf" srcId="{54DA617C-BDF5-4A09-A316-FC7F0975D3DF}" destId="{3DED7513-B275-4420-9643-6A78AAF2AF12}" srcOrd="0" destOrd="0" presId="urn:microsoft.com/office/officeart/2005/8/layout/process2"/>
    <dgm:cxn modelId="{8A75AF44-5905-47CF-9FF3-B0976AAD46CD}" type="presParOf" srcId="{54DA617C-BDF5-4A09-A316-FC7F0975D3DF}" destId="{B5998DA3-6A8A-45BD-B305-99DB2B6D96EF}" srcOrd="1" destOrd="0" presId="urn:microsoft.com/office/officeart/2005/8/layout/process2"/>
    <dgm:cxn modelId="{F2A324D0-4058-4C0E-BB7C-3E8EE82212BD}" type="presParOf" srcId="{B5998DA3-6A8A-45BD-B305-99DB2B6D96EF}" destId="{62BFFDDE-6BC6-4438-B846-1A908504660E}" srcOrd="0" destOrd="0" presId="urn:microsoft.com/office/officeart/2005/8/layout/process2"/>
    <dgm:cxn modelId="{36FBB483-E996-4960-87CE-02F680CF7E27}" type="presParOf" srcId="{54DA617C-BDF5-4A09-A316-FC7F0975D3DF}" destId="{29F75F6C-C9B0-4F8D-9931-BC6E1853E62F}" srcOrd="2" destOrd="0" presId="urn:microsoft.com/office/officeart/2005/8/layout/process2"/>
    <dgm:cxn modelId="{805358A6-67D8-42DC-ABE2-EEC092F83FFC}" type="presParOf" srcId="{54DA617C-BDF5-4A09-A316-FC7F0975D3DF}" destId="{4A3CC90B-A710-4301-ACDB-D2B8C223C76C}" srcOrd="3" destOrd="0" presId="urn:microsoft.com/office/officeart/2005/8/layout/process2"/>
    <dgm:cxn modelId="{2ACF2B31-FDBD-4454-AABE-DB5D3214106B}" type="presParOf" srcId="{4A3CC90B-A710-4301-ACDB-D2B8C223C76C}" destId="{47CF8462-6610-49AE-85AC-5619D8E50EDF}" srcOrd="0" destOrd="0" presId="urn:microsoft.com/office/officeart/2005/8/layout/process2"/>
    <dgm:cxn modelId="{BD469410-5A90-46DD-AE89-181028DDD9E3}" type="presParOf" srcId="{54DA617C-BDF5-4A09-A316-FC7F0975D3DF}" destId="{65613CFA-7AA0-4458-9BFC-5A60FACA734D}" srcOrd="4" destOrd="0" presId="urn:microsoft.com/office/officeart/2005/8/layout/process2"/>
    <dgm:cxn modelId="{83ACC193-9220-4D4D-A791-7DB533474886}" type="presParOf" srcId="{54DA617C-BDF5-4A09-A316-FC7F0975D3DF}" destId="{0DDC2182-9CC5-446F-A798-F71E9EA8B612}" srcOrd="5" destOrd="0" presId="urn:microsoft.com/office/officeart/2005/8/layout/process2"/>
    <dgm:cxn modelId="{24BD49F9-5B27-4CBF-A60B-2D249E0F756F}" type="presParOf" srcId="{0DDC2182-9CC5-446F-A798-F71E9EA8B612}" destId="{E2E35073-72B0-465E-A5B5-E2281104EF7A}" srcOrd="0" destOrd="0" presId="urn:microsoft.com/office/officeart/2005/8/layout/process2"/>
    <dgm:cxn modelId="{4BBF7007-5166-4DF8-A208-D35417D113D6}" type="presParOf" srcId="{54DA617C-BDF5-4A09-A316-FC7F0975D3DF}" destId="{F31D4158-71FB-4004-BE67-F6B9F9FBC95F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994B0E-9E68-4B52-B85E-ABAB9E61DF8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C2D6F2-964C-4D57-92DD-E3573C226A12}">
      <dgm:prSet/>
      <dgm:spPr/>
      <dgm:t>
        <a:bodyPr/>
        <a:lstStyle/>
        <a:p>
          <a:r>
            <a:rPr lang="en-US"/>
            <a:t>The developed test bench measures key performance parameters and optimal operating conditions for different propeller configurations. </a:t>
          </a:r>
        </a:p>
      </dgm:t>
    </dgm:pt>
    <dgm:pt modelId="{CC6F139C-9C73-4692-A9B5-DF4B6CAF5850}" type="parTrans" cxnId="{BA72D2C4-6862-4CBA-9EBF-19EE061DD7C0}">
      <dgm:prSet/>
      <dgm:spPr/>
      <dgm:t>
        <a:bodyPr/>
        <a:lstStyle/>
        <a:p>
          <a:endParaRPr lang="en-US"/>
        </a:p>
      </dgm:t>
    </dgm:pt>
    <dgm:pt modelId="{4FECF747-B5D0-4BBC-9A14-B0A3CBB03A65}" type="sibTrans" cxnId="{BA72D2C4-6862-4CBA-9EBF-19EE061DD7C0}">
      <dgm:prSet/>
      <dgm:spPr/>
      <dgm:t>
        <a:bodyPr/>
        <a:lstStyle/>
        <a:p>
          <a:endParaRPr lang="en-US"/>
        </a:p>
      </dgm:t>
    </dgm:pt>
    <dgm:pt modelId="{79C33612-8FDB-4698-A96E-060FE72C453C}">
      <dgm:prSet/>
      <dgm:spPr/>
      <dgm:t>
        <a:bodyPr/>
        <a:lstStyle/>
        <a:p>
          <a:r>
            <a:rPr lang="en-US"/>
            <a:t>Its compact and low-cost design makes it suitable for both commercial use and research. </a:t>
          </a:r>
        </a:p>
      </dgm:t>
    </dgm:pt>
    <dgm:pt modelId="{8E8847DE-37AA-4D8F-A3EB-3198E98C4665}" type="parTrans" cxnId="{D917E58C-735B-4297-900A-6C6E03554B66}">
      <dgm:prSet/>
      <dgm:spPr/>
      <dgm:t>
        <a:bodyPr/>
        <a:lstStyle/>
        <a:p>
          <a:endParaRPr lang="en-US"/>
        </a:p>
      </dgm:t>
    </dgm:pt>
    <dgm:pt modelId="{BE5F843D-EDE9-498B-AAD0-80422E4DABE5}" type="sibTrans" cxnId="{D917E58C-735B-4297-900A-6C6E03554B66}">
      <dgm:prSet/>
      <dgm:spPr/>
      <dgm:t>
        <a:bodyPr/>
        <a:lstStyle/>
        <a:p>
          <a:endParaRPr lang="en-US"/>
        </a:p>
      </dgm:t>
    </dgm:pt>
    <dgm:pt modelId="{C90A3AE0-5621-42EE-BC9E-B767C73A0EF3}">
      <dgm:prSet/>
      <dgm:spPr/>
      <dgm:t>
        <a:bodyPr/>
        <a:lstStyle/>
        <a:p>
          <a:r>
            <a:rPr lang="en-US"/>
            <a:t>Overall, the project demonstrates a reliable and effective platform for evaluating and improving aerial robot propulsion systems.</a:t>
          </a:r>
        </a:p>
      </dgm:t>
    </dgm:pt>
    <dgm:pt modelId="{F7D8CEE1-4D30-4FF8-B24B-5623C8CDEE01}" type="parTrans" cxnId="{E327DA31-A77C-4CDE-AE74-2FB6674075D5}">
      <dgm:prSet/>
      <dgm:spPr/>
      <dgm:t>
        <a:bodyPr/>
        <a:lstStyle/>
        <a:p>
          <a:endParaRPr lang="en-US"/>
        </a:p>
      </dgm:t>
    </dgm:pt>
    <dgm:pt modelId="{980B77D8-4FBF-4285-B2C7-C651524377E9}" type="sibTrans" cxnId="{E327DA31-A77C-4CDE-AE74-2FB6674075D5}">
      <dgm:prSet/>
      <dgm:spPr/>
      <dgm:t>
        <a:bodyPr/>
        <a:lstStyle/>
        <a:p>
          <a:endParaRPr lang="en-US"/>
        </a:p>
      </dgm:t>
    </dgm:pt>
    <dgm:pt modelId="{983547DA-8ECF-4E8B-8D6C-48AD0AB1F231}" type="pres">
      <dgm:prSet presAssocID="{5E994B0E-9E68-4B52-B85E-ABAB9E61DF8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739CD1-84D8-4AEC-805D-A49BAB30CA0B}" type="pres">
      <dgm:prSet presAssocID="{46C2D6F2-964C-4D57-92DD-E3573C226A12}" presName="hierRoot1" presStyleCnt="0"/>
      <dgm:spPr/>
    </dgm:pt>
    <dgm:pt modelId="{D893E557-9070-477C-B89B-1CC2D6414FEF}" type="pres">
      <dgm:prSet presAssocID="{46C2D6F2-964C-4D57-92DD-E3573C226A12}" presName="composite" presStyleCnt="0"/>
      <dgm:spPr/>
    </dgm:pt>
    <dgm:pt modelId="{54AB7BEA-6B6B-458A-A984-AF869589FCD2}" type="pres">
      <dgm:prSet presAssocID="{46C2D6F2-964C-4D57-92DD-E3573C226A12}" presName="background" presStyleLbl="node0" presStyleIdx="0" presStyleCnt="3"/>
      <dgm:spPr/>
    </dgm:pt>
    <dgm:pt modelId="{0AD4A5FB-A4FF-44D8-9B8E-D4B9B010BE59}" type="pres">
      <dgm:prSet presAssocID="{46C2D6F2-964C-4D57-92DD-E3573C226A12}" presName="text" presStyleLbl="fgAcc0" presStyleIdx="0" presStyleCnt="3">
        <dgm:presLayoutVars>
          <dgm:chPref val="3"/>
        </dgm:presLayoutVars>
      </dgm:prSet>
      <dgm:spPr/>
    </dgm:pt>
    <dgm:pt modelId="{9464CA9A-E48E-48BA-ABFE-134E48BEC95D}" type="pres">
      <dgm:prSet presAssocID="{46C2D6F2-964C-4D57-92DD-E3573C226A12}" presName="hierChild2" presStyleCnt="0"/>
      <dgm:spPr/>
    </dgm:pt>
    <dgm:pt modelId="{88A279DB-50A2-484E-A7BA-C256A57296F9}" type="pres">
      <dgm:prSet presAssocID="{79C33612-8FDB-4698-A96E-060FE72C453C}" presName="hierRoot1" presStyleCnt="0"/>
      <dgm:spPr/>
    </dgm:pt>
    <dgm:pt modelId="{97C8CE4A-2154-44AA-9E68-7162A963FDA9}" type="pres">
      <dgm:prSet presAssocID="{79C33612-8FDB-4698-A96E-060FE72C453C}" presName="composite" presStyleCnt="0"/>
      <dgm:spPr/>
    </dgm:pt>
    <dgm:pt modelId="{9272EFF8-F788-4BD5-B623-17DFED96C15E}" type="pres">
      <dgm:prSet presAssocID="{79C33612-8FDB-4698-A96E-060FE72C453C}" presName="background" presStyleLbl="node0" presStyleIdx="1" presStyleCnt="3"/>
      <dgm:spPr/>
    </dgm:pt>
    <dgm:pt modelId="{660F5035-8260-4F2C-8DC9-08C850594009}" type="pres">
      <dgm:prSet presAssocID="{79C33612-8FDB-4698-A96E-060FE72C453C}" presName="text" presStyleLbl="fgAcc0" presStyleIdx="1" presStyleCnt="3">
        <dgm:presLayoutVars>
          <dgm:chPref val="3"/>
        </dgm:presLayoutVars>
      </dgm:prSet>
      <dgm:spPr/>
    </dgm:pt>
    <dgm:pt modelId="{34E921CF-AD1B-428B-9A23-F30D46C70AAC}" type="pres">
      <dgm:prSet presAssocID="{79C33612-8FDB-4698-A96E-060FE72C453C}" presName="hierChild2" presStyleCnt="0"/>
      <dgm:spPr/>
    </dgm:pt>
    <dgm:pt modelId="{665780F4-2C5F-445E-A86F-6AB19F4E54E1}" type="pres">
      <dgm:prSet presAssocID="{C90A3AE0-5621-42EE-BC9E-B767C73A0EF3}" presName="hierRoot1" presStyleCnt="0"/>
      <dgm:spPr/>
    </dgm:pt>
    <dgm:pt modelId="{E3A0A3AE-3EBC-423B-9A4D-84C9F4D80119}" type="pres">
      <dgm:prSet presAssocID="{C90A3AE0-5621-42EE-BC9E-B767C73A0EF3}" presName="composite" presStyleCnt="0"/>
      <dgm:spPr/>
    </dgm:pt>
    <dgm:pt modelId="{D952BD06-B1E6-4649-8D7B-EF510E6962CB}" type="pres">
      <dgm:prSet presAssocID="{C90A3AE0-5621-42EE-BC9E-B767C73A0EF3}" presName="background" presStyleLbl="node0" presStyleIdx="2" presStyleCnt="3"/>
      <dgm:spPr/>
    </dgm:pt>
    <dgm:pt modelId="{213B7337-9718-47A9-9CFC-92952E8DA76B}" type="pres">
      <dgm:prSet presAssocID="{C90A3AE0-5621-42EE-BC9E-B767C73A0EF3}" presName="text" presStyleLbl="fgAcc0" presStyleIdx="2" presStyleCnt="3">
        <dgm:presLayoutVars>
          <dgm:chPref val="3"/>
        </dgm:presLayoutVars>
      </dgm:prSet>
      <dgm:spPr/>
    </dgm:pt>
    <dgm:pt modelId="{9B192D23-98FE-4358-A62E-E23BBCE82BAD}" type="pres">
      <dgm:prSet presAssocID="{C90A3AE0-5621-42EE-BC9E-B767C73A0EF3}" presName="hierChild2" presStyleCnt="0"/>
      <dgm:spPr/>
    </dgm:pt>
  </dgm:ptLst>
  <dgm:cxnLst>
    <dgm:cxn modelId="{E327DA31-A77C-4CDE-AE74-2FB6674075D5}" srcId="{5E994B0E-9E68-4B52-B85E-ABAB9E61DF8C}" destId="{C90A3AE0-5621-42EE-BC9E-B767C73A0EF3}" srcOrd="2" destOrd="0" parTransId="{F7D8CEE1-4D30-4FF8-B24B-5623C8CDEE01}" sibTransId="{980B77D8-4FBF-4285-B2C7-C651524377E9}"/>
    <dgm:cxn modelId="{9F71EA68-0E6F-44D1-90AC-5C0A546D51FB}" type="presOf" srcId="{5E994B0E-9E68-4B52-B85E-ABAB9E61DF8C}" destId="{983547DA-8ECF-4E8B-8D6C-48AD0AB1F231}" srcOrd="0" destOrd="0" presId="urn:microsoft.com/office/officeart/2005/8/layout/hierarchy1"/>
    <dgm:cxn modelId="{78F5394C-C51A-4152-BB6D-0D62D3C496A3}" type="presOf" srcId="{46C2D6F2-964C-4D57-92DD-E3573C226A12}" destId="{0AD4A5FB-A4FF-44D8-9B8E-D4B9B010BE59}" srcOrd="0" destOrd="0" presId="urn:microsoft.com/office/officeart/2005/8/layout/hierarchy1"/>
    <dgm:cxn modelId="{D7CBF857-FEBE-4146-BC2A-73757424FBAC}" type="presOf" srcId="{C90A3AE0-5621-42EE-BC9E-B767C73A0EF3}" destId="{213B7337-9718-47A9-9CFC-92952E8DA76B}" srcOrd="0" destOrd="0" presId="urn:microsoft.com/office/officeart/2005/8/layout/hierarchy1"/>
    <dgm:cxn modelId="{D917E58C-735B-4297-900A-6C6E03554B66}" srcId="{5E994B0E-9E68-4B52-B85E-ABAB9E61DF8C}" destId="{79C33612-8FDB-4698-A96E-060FE72C453C}" srcOrd="1" destOrd="0" parTransId="{8E8847DE-37AA-4D8F-A3EB-3198E98C4665}" sibTransId="{BE5F843D-EDE9-498B-AAD0-80422E4DABE5}"/>
    <dgm:cxn modelId="{259D30B3-45BE-4E50-8716-9C4A7623BB2C}" type="presOf" srcId="{79C33612-8FDB-4698-A96E-060FE72C453C}" destId="{660F5035-8260-4F2C-8DC9-08C850594009}" srcOrd="0" destOrd="0" presId="urn:microsoft.com/office/officeart/2005/8/layout/hierarchy1"/>
    <dgm:cxn modelId="{BA72D2C4-6862-4CBA-9EBF-19EE061DD7C0}" srcId="{5E994B0E-9E68-4B52-B85E-ABAB9E61DF8C}" destId="{46C2D6F2-964C-4D57-92DD-E3573C226A12}" srcOrd="0" destOrd="0" parTransId="{CC6F139C-9C73-4692-A9B5-DF4B6CAF5850}" sibTransId="{4FECF747-B5D0-4BBC-9A14-B0A3CBB03A65}"/>
    <dgm:cxn modelId="{45DFAD91-05AA-4D56-AD13-94B4FCCD9FB6}" type="presParOf" srcId="{983547DA-8ECF-4E8B-8D6C-48AD0AB1F231}" destId="{BD739CD1-84D8-4AEC-805D-A49BAB30CA0B}" srcOrd="0" destOrd="0" presId="urn:microsoft.com/office/officeart/2005/8/layout/hierarchy1"/>
    <dgm:cxn modelId="{B2A642CD-A0BA-4D47-A53C-AE4CBE012178}" type="presParOf" srcId="{BD739CD1-84D8-4AEC-805D-A49BAB30CA0B}" destId="{D893E557-9070-477C-B89B-1CC2D6414FEF}" srcOrd="0" destOrd="0" presId="urn:microsoft.com/office/officeart/2005/8/layout/hierarchy1"/>
    <dgm:cxn modelId="{53C66BFA-C087-4F11-B242-F1A6EB7D61B2}" type="presParOf" srcId="{D893E557-9070-477C-B89B-1CC2D6414FEF}" destId="{54AB7BEA-6B6B-458A-A984-AF869589FCD2}" srcOrd="0" destOrd="0" presId="urn:microsoft.com/office/officeart/2005/8/layout/hierarchy1"/>
    <dgm:cxn modelId="{FD4A8153-9F71-4DEC-91AC-3C4EFCF3AE29}" type="presParOf" srcId="{D893E557-9070-477C-B89B-1CC2D6414FEF}" destId="{0AD4A5FB-A4FF-44D8-9B8E-D4B9B010BE59}" srcOrd="1" destOrd="0" presId="urn:microsoft.com/office/officeart/2005/8/layout/hierarchy1"/>
    <dgm:cxn modelId="{8003C4F6-1FCD-48BD-B828-B15068EAD382}" type="presParOf" srcId="{BD739CD1-84D8-4AEC-805D-A49BAB30CA0B}" destId="{9464CA9A-E48E-48BA-ABFE-134E48BEC95D}" srcOrd="1" destOrd="0" presId="urn:microsoft.com/office/officeart/2005/8/layout/hierarchy1"/>
    <dgm:cxn modelId="{6C9E669C-B67F-4F1E-AC07-C434196ABCF6}" type="presParOf" srcId="{983547DA-8ECF-4E8B-8D6C-48AD0AB1F231}" destId="{88A279DB-50A2-484E-A7BA-C256A57296F9}" srcOrd="1" destOrd="0" presId="urn:microsoft.com/office/officeart/2005/8/layout/hierarchy1"/>
    <dgm:cxn modelId="{E0E8C630-5573-4ECB-83F6-4AB31471BEA7}" type="presParOf" srcId="{88A279DB-50A2-484E-A7BA-C256A57296F9}" destId="{97C8CE4A-2154-44AA-9E68-7162A963FDA9}" srcOrd="0" destOrd="0" presId="urn:microsoft.com/office/officeart/2005/8/layout/hierarchy1"/>
    <dgm:cxn modelId="{96CB8147-BCBA-4371-B6DA-836A0C69592F}" type="presParOf" srcId="{97C8CE4A-2154-44AA-9E68-7162A963FDA9}" destId="{9272EFF8-F788-4BD5-B623-17DFED96C15E}" srcOrd="0" destOrd="0" presId="urn:microsoft.com/office/officeart/2005/8/layout/hierarchy1"/>
    <dgm:cxn modelId="{0F8E20F5-22C4-463E-8468-6BC13862334E}" type="presParOf" srcId="{97C8CE4A-2154-44AA-9E68-7162A963FDA9}" destId="{660F5035-8260-4F2C-8DC9-08C850594009}" srcOrd="1" destOrd="0" presId="urn:microsoft.com/office/officeart/2005/8/layout/hierarchy1"/>
    <dgm:cxn modelId="{C57AA4F7-268B-451C-A958-3D5C8F76DC0D}" type="presParOf" srcId="{88A279DB-50A2-484E-A7BA-C256A57296F9}" destId="{34E921CF-AD1B-428B-9A23-F30D46C70AAC}" srcOrd="1" destOrd="0" presId="urn:microsoft.com/office/officeart/2005/8/layout/hierarchy1"/>
    <dgm:cxn modelId="{98551E30-95DA-4FA6-BBA5-E4163DE3280E}" type="presParOf" srcId="{983547DA-8ECF-4E8B-8D6C-48AD0AB1F231}" destId="{665780F4-2C5F-445E-A86F-6AB19F4E54E1}" srcOrd="2" destOrd="0" presId="urn:microsoft.com/office/officeart/2005/8/layout/hierarchy1"/>
    <dgm:cxn modelId="{B26FE863-814D-40E4-AC90-FBA6A8E4E14D}" type="presParOf" srcId="{665780F4-2C5F-445E-A86F-6AB19F4E54E1}" destId="{E3A0A3AE-3EBC-423B-9A4D-84C9F4D80119}" srcOrd="0" destOrd="0" presId="urn:microsoft.com/office/officeart/2005/8/layout/hierarchy1"/>
    <dgm:cxn modelId="{6EECABDE-31D3-40F6-B94C-7F899E166CFC}" type="presParOf" srcId="{E3A0A3AE-3EBC-423B-9A4D-84C9F4D80119}" destId="{D952BD06-B1E6-4649-8D7B-EF510E6962CB}" srcOrd="0" destOrd="0" presId="urn:microsoft.com/office/officeart/2005/8/layout/hierarchy1"/>
    <dgm:cxn modelId="{6E073E24-FD18-49AD-B6FA-52D19463838C}" type="presParOf" srcId="{E3A0A3AE-3EBC-423B-9A4D-84C9F4D80119}" destId="{213B7337-9718-47A9-9CFC-92952E8DA76B}" srcOrd="1" destOrd="0" presId="urn:microsoft.com/office/officeart/2005/8/layout/hierarchy1"/>
    <dgm:cxn modelId="{95BEC175-4E0F-4BA1-B75B-C8C810E4F7D5}" type="presParOf" srcId="{665780F4-2C5F-445E-A86F-6AB19F4E54E1}" destId="{9B192D23-98FE-4358-A62E-E23BBCE82B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D7513-B275-4420-9643-6A78AAF2AF12}">
      <dsp:nvSpPr>
        <dsp:cNvPr id="0" name=""/>
        <dsp:cNvSpPr/>
      </dsp:nvSpPr>
      <dsp:spPr>
        <a:xfrm>
          <a:off x="123083" y="2665"/>
          <a:ext cx="6864705" cy="991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BLDC motor is powered up through an Electronic Speed Controller (ESC) controlled by the microcontroller.</a:t>
          </a:r>
          <a:endParaRPr lang="en-US" sz="1500" kern="1200" dirty="0"/>
        </a:p>
      </dsp:txBody>
      <dsp:txXfrm>
        <a:off x="152129" y="31711"/>
        <a:ext cx="6806613" cy="933614"/>
      </dsp:txXfrm>
    </dsp:sp>
    <dsp:sp modelId="{B5998DA3-6A8A-45BD-B305-99DB2B6D96EF}">
      <dsp:nvSpPr>
        <dsp:cNvPr id="0" name=""/>
        <dsp:cNvSpPr/>
      </dsp:nvSpPr>
      <dsp:spPr>
        <a:xfrm rot="5399111">
          <a:off x="3381960" y="1002789"/>
          <a:ext cx="347326" cy="446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3421730" y="1052259"/>
        <a:ext cx="267761" cy="243128"/>
      </dsp:txXfrm>
    </dsp:sp>
    <dsp:sp modelId="{29F75F6C-C9B0-4F8D-9931-BC6E1853E62F}">
      <dsp:nvSpPr>
        <dsp:cNvPr id="0" name=""/>
        <dsp:cNvSpPr/>
      </dsp:nvSpPr>
      <dsp:spPr>
        <a:xfrm>
          <a:off x="113144" y="1457474"/>
          <a:ext cx="6885336" cy="991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Thrust is measured using a load cell connected to the HX711 amplifier module.</a:t>
          </a:r>
          <a:endParaRPr lang="en-US" sz="1500" kern="1200" dirty="0"/>
        </a:p>
      </dsp:txBody>
      <dsp:txXfrm>
        <a:off x="142190" y="1486520"/>
        <a:ext cx="6827244" cy="933614"/>
      </dsp:txXfrm>
    </dsp:sp>
    <dsp:sp modelId="{4A3CC90B-A710-4301-ACDB-D2B8C223C76C}">
      <dsp:nvSpPr>
        <dsp:cNvPr id="0" name=""/>
        <dsp:cNvSpPr/>
      </dsp:nvSpPr>
      <dsp:spPr>
        <a:xfrm rot="5400851">
          <a:off x="3357397" y="2490349"/>
          <a:ext cx="396453" cy="446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421758" y="2515256"/>
        <a:ext cx="267761" cy="277517"/>
      </dsp:txXfrm>
    </dsp:sp>
    <dsp:sp modelId="{65613CFA-7AA0-4458-9BFC-5A60FACA734D}">
      <dsp:nvSpPr>
        <dsp:cNvPr id="0" name=""/>
        <dsp:cNvSpPr/>
      </dsp:nvSpPr>
      <dsp:spPr>
        <a:xfrm>
          <a:off x="101699" y="2977785"/>
          <a:ext cx="6907472" cy="991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Voltage and Current are monitored via a Power Module interfaced with 16-bit ADC for accurate readings.</a:t>
          </a:r>
          <a:endParaRPr lang="en-US" sz="1500" kern="1200" dirty="0"/>
        </a:p>
      </dsp:txBody>
      <dsp:txXfrm>
        <a:off x="130745" y="3006831"/>
        <a:ext cx="6849380" cy="933614"/>
      </dsp:txXfrm>
    </dsp:sp>
    <dsp:sp modelId="{0DDC2182-9CC5-446F-A798-F71E9EA8B612}">
      <dsp:nvSpPr>
        <dsp:cNvPr id="0" name=""/>
        <dsp:cNvSpPr/>
      </dsp:nvSpPr>
      <dsp:spPr>
        <a:xfrm rot="5400000">
          <a:off x="3369491" y="3994284"/>
          <a:ext cx="371889" cy="4462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3421556" y="4031473"/>
        <a:ext cx="267761" cy="260322"/>
      </dsp:txXfrm>
    </dsp:sp>
    <dsp:sp modelId="{F31D4158-71FB-4004-BE67-F6B9F9FBC95F}">
      <dsp:nvSpPr>
        <dsp:cNvPr id="0" name=""/>
        <dsp:cNvSpPr/>
      </dsp:nvSpPr>
      <dsp:spPr>
        <a:xfrm>
          <a:off x="101699" y="4465344"/>
          <a:ext cx="6907472" cy="991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ESP32 microcontroller handles motor control, sensor data processing, and logs result to the dashboard.</a:t>
          </a:r>
          <a:endParaRPr lang="en-US" sz="1500" kern="1200" dirty="0"/>
        </a:p>
      </dsp:txBody>
      <dsp:txXfrm>
        <a:off x="130745" y="4494390"/>
        <a:ext cx="6849380" cy="9336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B7BEA-6B6B-458A-A984-AF869589FCD2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4A5FB-A4FF-44D8-9B8E-D4B9B010BE5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developed test bench measures key performance parameters and optimal operating conditions for different propeller configurations. </a:t>
          </a:r>
        </a:p>
      </dsp:txBody>
      <dsp:txXfrm>
        <a:off x="398656" y="1088253"/>
        <a:ext cx="2959127" cy="1837317"/>
      </dsp:txXfrm>
    </dsp:sp>
    <dsp:sp modelId="{9272EFF8-F788-4BD5-B623-17DFED96C15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F5035-8260-4F2C-8DC9-08C850594009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Its compact and low-cost design makes it suitable for both commercial use and research. </a:t>
          </a:r>
        </a:p>
      </dsp:txBody>
      <dsp:txXfrm>
        <a:off x="4155097" y="1088253"/>
        <a:ext cx="2959127" cy="1837317"/>
      </dsp:txXfrm>
    </dsp:sp>
    <dsp:sp modelId="{D952BD06-B1E6-4649-8D7B-EF510E6962C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B7337-9718-47A9-9CFC-92952E8DA76B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Overall, the project demonstrates a reliable and effective platform for evaluating and improving aerial robot propulsion systems.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D8D2-824F-5956-2698-3730A52C7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5428E-AC93-276B-0AFE-746CC5518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719E4-5968-5426-2198-F87A056F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223C4-3CB1-B42F-BC64-E9D442B6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1024-39C5-0AAD-ECF1-FCF4DC67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7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F812-C2EB-F8BB-BF2C-6A83E8CB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B0FA-F771-B863-8FED-75974FB8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FE32-B630-A818-504D-C5D22845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EEA0-32E3-E033-FB8D-907DBC1A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29D5E-CAB3-B138-9804-E9F4D833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6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C88F-9733-1702-77FC-C0ACA3C7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3EB87-4AF6-0210-0E11-28EB8EC86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3E494-BCB5-CE46-5144-E0E17DC5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12C8-8BE8-9A73-7487-2354608C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6C919-55F5-EBEC-3F62-BD4DCD23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22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48D5-205C-3D6C-5A24-111D541B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A03E-16F6-DC61-2354-F3C9A11E4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DC35B-F30F-E67D-C3BA-5942C5F17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A9307-AC29-4121-A6E9-4F1E75055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2E6EB-8F27-3FF6-936E-0C49AE72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5465-E2F2-A9FA-801F-569FB6AD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64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DCC1-002C-C525-52B6-5AA3810E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462A2-3297-85DE-A092-302D352DA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3E9D4-0827-6FAE-8A27-310081EF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53F0F-B216-9B2A-CB0E-E1F131E8F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AA4E0-1BE3-F0A0-215B-EA0BEF8D5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07FA2-F58D-B460-5ACF-CD82F1AA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AF30E-4537-DDCD-9352-F6F6CE0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B7B2A-955C-67B4-6606-D4EF0C15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99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F9C3-D427-F0FE-5537-267C1528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3B85-F344-4EB6-0FC6-B34F0DDA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CEBA4-9A8F-B1BF-5B98-C94CD9C9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5E0B7-BE3F-797A-B163-6F917320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5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809D9-3FDE-AD2D-672A-07D9C111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B3F3E-87AA-19DD-0C5D-BDA40EA2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83837-3626-47EC-283D-928E4CF1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42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2D404-4BFB-5CE2-4E80-FCD44879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4CF1-97E3-DFCB-C502-0FDA9E6F3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B4B43-7455-EC8B-F5DA-2DEC3D574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AD3C5-A402-2D1F-9BAC-4AA24065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AAE3F-17E7-93A4-A9E9-D00C67AA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7F75E-30B7-48D5-D6FA-47CEF903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7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D96E-7066-4A31-F5E9-9A7EB791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7188D-C5A5-FE83-B1FE-B2D61D2B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48288-2DFC-6EFF-3A1F-ADC7ED586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751EF-D12A-540F-E5D9-1D8CADFB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DC1A5-FFA7-156F-2293-95F07BC2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73547-EA94-4A99-F8FC-67219306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1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9DF9-90C0-17E0-D0E8-65302AFF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DF4B7-08BD-7D8E-729C-148C1E1C5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A3D6-AAA0-BD0E-F4AB-AC86B87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6557-48E0-D86B-891E-90A9D482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E5B5-7BD6-FC01-B7B0-410AA26B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35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58711-8579-98E5-97DB-F2146F2AB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E6DBA-F1F7-FCD0-30D5-3B01B0F87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D16AD-952E-5919-55DD-261BC807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DC51F-539D-66E7-8F3D-EF52FDD6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62CE5-D6A8-C27E-3BF4-E40A9996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79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31226-147B-C7FE-0E01-96A7CEAE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FC552-1DA2-51E3-A080-E6351AEE9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F698-603D-48BC-4DAB-71D566739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6FAD5-EA2C-4169-A569-0FAF342AF80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00540-065A-45A7-4F76-C10D4D669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1D217-F5BD-97B4-A24C-E4C29B575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32ED8-54A6-4959-A4C6-B9D069D4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2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Kumaraguru College of Technology - Wikipedia">
            <a:extLst>
              <a:ext uri="{FF2B5EF4-FFF2-40B4-BE49-F238E27FC236}">
                <a16:creationId xmlns:a16="http://schemas.microsoft.com/office/drawing/2014/main" id="{A1C28C52-8B09-8FC7-36F2-9A5BB259E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394" y="489543"/>
            <a:ext cx="1695209" cy="169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3BB1D3-968B-C24E-9D9F-FC13D86A2BDF}"/>
              </a:ext>
            </a:extLst>
          </p:cNvPr>
          <p:cNvSpPr txBox="1"/>
          <p:nvPr/>
        </p:nvSpPr>
        <p:spPr>
          <a:xfrm>
            <a:off x="1542286" y="2364623"/>
            <a:ext cx="930249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KUMARAGURU COLLEGE OF TECHNOLOGY,</a:t>
            </a:r>
          </a:p>
          <a:p>
            <a:pPr algn="ctr"/>
            <a:r>
              <a:rPr lang="en-US" sz="3200" b="1" spc="2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COIMBATORE - 641 049</a:t>
            </a:r>
          </a:p>
          <a:p>
            <a:pPr algn="ctr"/>
            <a:endParaRPr lang="en-US" b="1" spc="2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Autonomous Institution Affiliated to Anna University, Chennai)</a:t>
            </a:r>
            <a:b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3A527-B97A-F997-B5DC-C99377703511}"/>
              </a:ext>
            </a:extLst>
          </p:cNvPr>
          <p:cNvSpPr txBox="1"/>
          <p:nvPr/>
        </p:nvSpPr>
        <p:spPr>
          <a:xfrm>
            <a:off x="2311906" y="4100080"/>
            <a:ext cx="7763256" cy="1580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Mechatronics Engineering</a:t>
            </a:r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Phase – I</a:t>
            </a:r>
          </a:p>
        </p:txBody>
      </p:sp>
    </p:spTree>
    <p:extLst>
      <p:ext uri="{BB962C8B-B14F-4D97-AF65-F5344CB8AC3E}">
        <p14:creationId xmlns:p14="http://schemas.microsoft.com/office/powerpoint/2010/main" val="66840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08F8-9410-DAB6-6638-F9520C37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29077"/>
            <a:ext cx="113538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AERIAL ROBOT MOTORS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E8A522-64ED-047C-92BD-7BA4340C16FD}"/>
              </a:ext>
            </a:extLst>
          </p:cNvPr>
          <p:cNvSpPr txBox="1"/>
          <p:nvPr/>
        </p:nvSpPr>
        <p:spPr>
          <a:xfrm>
            <a:off x="2968205" y="4511924"/>
            <a:ext cx="54406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Guide: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 Raffik 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Coordinator: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 Ramkumar A</a:t>
            </a:r>
          </a:p>
          <a:p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06913A-2B66-5890-643B-7656E6A47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20912"/>
              </p:ext>
            </p:extLst>
          </p:nvPr>
        </p:nvGraphicFramePr>
        <p:xfrm>
          <a:off x="2968204" y="2199897"/>
          <a:ext cx="5054362" cy="1961146"/>
        </p:xfrm>
        <a:graphic>
          <a:graphicData uri="http://schemas.openxmlformats.org/drawingml/2006/table">
            <a:tbl>
              <a:tblPr firstRow="1" bandRow="1"/>
              <a:tblGrid>
                <a:gridCol w="997078">
                  <a:extLst>
                    <a:ext uri="{9D8B030D-6E8A-4147-A177-3AD203B41FA5}">
                      <a16:colId xmlns:a16="http://schemas.microsoft.com/office/drawing/2014/main" val="685819060"/>
                    </a:ext>
                  </a:extLst>
                </a:gridCol>
                <a:gridCol w="2464458">
                  <a:extLst>
                    <a:ext uri="{9D8B030D-6E8A-4147-A177-3AD203B41FA5}">
                      <a16:colId xmlns:a16="http://schemas.microsoft.com/office/drawing/2014/main" val="1934196292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769877363"/>
                    </a:ext>
                  </a:extLst>
                </a:gridCol>
              </a:tblGrid>
              <a:tr h="477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1)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Bhairav Shakthi U E 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22BMC004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75541"/>
                  </a:ext>
                </a:extLst>
              </a:tr>
              <a:tr h="5003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2)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Karthi M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22BMC019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1500081"/>
                  </a:ext>
                </a:extLst>
              </a:tr>
              <a:tr h="52621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3)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Sankarasurya V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22BMC041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73347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4)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Yuvaraj M V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22BMC063</a:t>
                      </a:r>
                      <a:endParaRPr lang="en-IN" sz="20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59409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9A43630-F534-D182-601F-B1B86030E5E3}"/>
              </a:ext>
            </a:extLst>
          </p:cNvPr>
          <p:cNvSpPr txBox="1"/>
          <p:nvPr/>
        </p:nvSpPr>
        <p:spPr>
          <a:xfrm>
            <a:off x="2968205" y="1654640"/>
            <a:ext cx="26217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Team:</a:t>
            </a:r>
          </a:p>
        </p:txBody>
      </p:sp>
    </p:spTree>
    <p:extLst>
      <p:ext uri="{BB962C8B-B14F-4D97-AF65-F5344CB8AC3E}">
        <p14:creationId xmlns:p14="http://schemas.microsoft.com/office/powerpoint/2010/main" val="4125330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8" name="Rectangle 412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8A572-BDD1-6435-B23E-C07B4C64A8EC}"/>
              </a:ext>
            </a:extLst>
          </p:cNvPr>
          <p:cNvSpPr txBox="1"/>
          <p:nvPr/>
        </p:nvSpPr>
        <p:spPr>
          <a:xfrm>
            <a:off x="492897" y="267567"/>
            <a:ext cx="4406660" cy="799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135760-1D34-D781-6849-0313A0046B80}"/>
              </a:ext>
            </a:extLst>
          </p:cNvPr>
          <p:cNvSpPr txBox="1">
            <a:spLocks/>
          </p:cNvSpPr>
          <p:nvPr/>
        </p:nvSpPr>
        <p:spPr>
          <a:xfrm>
            <a:off x="734682" y="1067008"/>
            <a:ext cx="6454244" cy="196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Existing UAV motor test systems are costly and lack flexibility for different motors and load conditions. Their limited adaptability reduces testing accuracy and optimization. Hence, a compact, low-cost, and versatile test platform is needed for reliable motor performance evaluation.</a:t>
            </a:r>
          </a:p>
        </p:txBody>
      </p:sp>
      <p:pic>
        <p:nvPicPr>
          <p:cNvPr id="4100" name="Picture 4" descr="LY-10KGF Drone Thrust Stand – 10kgf UAV Propulsion Test Equipment">
            <a:extLst>
              <a:ext uri="{FF2B5EF4-FFF2-40B4-BE49-F238E27FC236}">
                <a16:creationId xmlns:a16="http://schemas.microsoft.com/office/drawing/2014/main" id="{1D66917F-8760-0CBA-78BD-CA3618F19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6" r="18753"/>
          <a:stretch>
            <a:fillRect/>
          </a:stretch>
        </p:blipFill>
        <p:spPr bwMode="auto">
          <a:xfrm>
            <a:off x="7292444" y="667288"/>
            <a:ext cx="4896508" cy="529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41F565-4C62-BFB8-8F20-002A3A611977}"/>
              </a:ext>
            </a:extLst>
          </p:cNvPr>
          <p:cNvSpPr txBox="1"/>
          <p:nvPr/>
        </p:nvSpPr>
        <p:spPr>
          <a:xfrm>
            <a:off x="492897" y="3244155"/>
            <a:ext cx="4018718" cy="641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OBJECTIVES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6F103F-FBB7-466B-FC96-95B3F09319AB}"/>
              </a:ext>
            </a:extLst>
          </p:cNvPr>
          <p:cNvSpPr txBox="1">
            <a:spLocks/>
          </p:cNvSpPr>
          <p:nvPr/>
        </p:nvSpPr>
        <p:spPr>
          <a:xfrm>
            <a:off x="734682" y="3984530"/>
            <a:ext cx="6454244" cy="2282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design a </a:t>
            </a:r>
            <a:r>
              <a:rPr lang="en-US" sz="2000" b="1" dirty="0"/>
              <a:t>low-cost and compact</a:t>
            </a:r>
            <a:r>
              <a:rPr lang="en-US" sz="2000" dirty="0"/>
              <a:t> UAV motor testing platform.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ensure </a:t>
            </a:r>
            <a:r>
              <a:rPr lang="en-US" sz="2000" b="1" dirty="0"/>
              <a:t>flexibility</a:t>
            </a:r>
            <a:r>
              <a:rPr lang="en-US" sz="2000" dirty="0"/>
              <a:t> for testing different motor types and load conditions.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enable </a:t>
            </a:r>
            <a:r>
              <a:rPr lang="en-US" sz="2000" b="1" dirty="0"/>
              <a:t>accurate and efficient</a:t>
            </a:r>
            <a:r>
              <a:rPr lang="en-US" sz="2000" dirty="0"/>
              <a:t> evaluation of motor performance parameters.</a:t>
            </a:r>
          </a:p>
        </p:txBody>
      </p:sp>
    </p:spTree>
    <p:extLst>
      <p:ext uri="{BB962C8B-B14F-4D97-AF65-F5344CB8AC3E}">
        <p14:creationId xmlns:p14="http://schemas.microsoft.com/office/powerpoint/2010/main" val="19434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6E3BC5-11C6-4C2D-31D6-8D574FEED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"/>
          <a:stretch>
            <a:fillRect/>
          </a:stretch>
        </p:blipFill>
        <p:spPr>
          <a:xfrm>
            <a:off x="146649" y="1045709"/>
            <a:ext cx="6232616" cy="2924024"/>
          </a:xfrm>
          <a:prstGeom prst="rect">
            <a:avLst/>
          </a:prstGeom>
        </p:spPr>
      </p:pic>
      <p:pic>
        <p:nvPicPr>
          <p:cNvPr id="5" name="Picture 4" descr="A close up of a product&#10;&#10;AI-generated content may be incorrect.">
            <a:extLst>
              <a:ext uri="{FF2B5EF4-FFF2-40B4-BE49-F238E27FC236}">
                <a16:creationId xmlns:a16="http://schemas.microsoft.com/office/drawing/2014/main" id="{47BEC198-D929-C4F6-EED7-D1D8329F9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" b="1683"/>
          <a:stretch>
            <a:fillRect/>
          </a:stretch>
        </p:blipFill>
        <p:spPr>
          <a:xfrm>
            <a:off x="146649" y="3807726"/>
            <a:ext cx="6103904" cy="2616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647987-243D-EADD-3D49-46B37438A5DA}"/>
              </a:ext>
            </a:extLst>
          </p:cNvPr>
          <p:cNvSpPr txBox="1"/>
          <p:nvPr/>
        </p:nvSpPr>
        <p:spPr>
          <a:xfrm>
            <a:off x="6379265" y="1442782"/>
            <a:ext cx="5300931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LY-10KGF Thrust Stand</a:t>
            </a:r>
            <a:r>
              <a:rPr lang="en-US" dirty="0"/>
              <a:t> — by </a:t>
            </a:r>
            <a:r>
              <a:rPr lang="en-US" dirty="0" err="1"/>
              <a:t>WingFlying</a:t>
            </a:r>
            <a:r>
              <a:rPr lang="en-US" dirty="0"/>
              <a:t>: powerful test bench for medium-sized UAV propulsion systems, up to 10 </a:t>
            </a:r>
            <a:r>
              <a:rPr lang="en-US" dirty="0" err="1"/>
              <a:t>kgf</a:t>
            </a:r>
            <a:r>
              <a:rPr lang="en-US" dirty="0"/>
              <a:t> thrust, </a:t>
            </a:r>
            <a:r>
              <a:rPr lang="en-IN" dirty="0"/>
              <a:t>5 </a:t>
            </a:r>
            <a:r>
              <a:rPr lang="en-IN" dirty="0" err="1"/>
              <a:t>N·m</a:t>
            </a:r>
            <a:r>
              <a:rPr lang="en-IN" dirty="0"/>
              <a:t> torque,</a:t>
            </a:r>
            <a:r>
              <a:rPr lang="en-US" dirty="0"/>
              <a:t> supports up to 30″ props, wide voltage/current range, suitable for larger drones.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38346-E818-E149-C7E4-836054D6CCDC}"/>
              </a:ext>
            </a:extLst>
          </p:cNvPr>
          <p:cNvSpPr txBox="1"/>
          <p:nvPr/>
        </p:nvSpPr>
        <p:spPr>
          <a:xfrm>
            <a:off x="6379265" y="4051013"/>
            <a:ext cx="5300931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Series 1585 Thrust Stand Bundle</a:t>
            </a:r>
            <a:r>
              <a:rPr lang="en-IN" dirty="0"/>
              <a:t> — by Tyto Robotics (former </a:t>
            </a:r>
            <a:r>
              <a:rPr lang="en-IN" dirty="0" err="1"/>
              <a:t>RCbenchmark</a:t>
            </a:r>
            <a:r>
              <a:rPr lang="en-IN" dirty="0"/>
              <a:t>): compact test stand for small to medium brushless motors/props, up to 5 </a:t>
            </a:r>
            <a:r>
              <a:rPr lang="en-IN" dirty="0" err="1"/>
              <a:t>kgf</a:t>
            </a:r>
            <a:r>
              <a:rPr lang="en-IN" dirty="0"/>
              <a:t> thrust, 2 </a:t>
            </a:r>
            <a:r>
              <a:rPr lang="en-IN" dirty="0" err="1"/>
              <a:t>N·m</a:t>
            </a:r>
            <a:r>
              <a:rPr lang="en-IN" dirty="0"/>
              <a:t> torque, designed for small drones, RC, UAV-R&amp;D and propeller tuning.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C7B59-0091-C693-DFBF-C0421119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8" y="358157"/>
            <a:ext cx="4781142" cy="503555"/>
          </a:xfrm>
        </p:spPr>
        <p:txBody>
          <a:bodyPr>
            <a:noAutofit/>
          </a:bodyPr>
          <a:lstStyle/>
          <a:p>
            <a:r>
              <a:rPr lang="en-US" sz="3600" b="1" dirty="0"/>
              <a:t>EXISTING PRODUCTS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23806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F3D448-2876-3D0C-09EC-3C9A27C7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10" y="548946"/>
            <a:ext cx="3971643" cy="1386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HARDWARE COMPONENTS</a:t>
            </a:r>
          </a:p>
        </p:txBody>
      </p:sp>
      <p:pic>
        <p:nvPicPr>
          <p:cNvPr id="5" name="Picture 10" descr="Overview of the NodeMCU ESP32 microcontroller • AranaCorp">
            <a:extLst>
              <a:ext uri="{FF2B5EF4-FFF2-40B4-BE49-F238E27FC236}">
                <a16:creationId xmlns:a16="http://schemas.microsoft.com/office/drawing/2014/main" id="{AB452429-41BC-6842-87A2-FEA070080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2" b="1065"/>
          <a:stretch>
            <a:fillRect/>
          </a:stretch>
        </p:blipFill>
        <p:spPr bwMode="auto">
          <a:xfrm>
            <a:off x="8626279" y="4073874"/>
            <a:ext cx="2588176" cy="2459095"/>
          </a:xfrm>
          <a:custGeom>
            <a:avLst/>
            <a:gdLst/>
            <a:ahLst/>
            <a:cxnLst/>
            <a:rect l="l" t="t" r="r" b="b"/>
            <a:pathLst>
              <a:path w="3831534" h="3640433">
                <a:moveTo>
                  <a:pt x="104390" y="0"/>
                </a:moveTo>
                <a:lnTo>
                  <a:pt x="3241222" y="0"/>
                </a:lnTo>
                <a:lnTo>
                  <a:pt x="3270735" y="30226"/>
                </a:lnTo>
                <a:cubicBezTo>
                  <a:pt x="3619169" y="413588"/>
                  <a:pt x="3831534" y="922847"/>
                  <a:pt x="3831534" y="1481705"/>
                </a:cubicBezTo>
                <a:cubicBezTo>
                  <a:pt x="3831534" y="2673937"/>
                  <a:pt x="2865038" y="3640433"/>
                  <a:pt x="1672806" y="3640433"/>
                </a:cubicBezTo>
                <a:cubicBezTo>
                  <a:pt x="1002176" y="3640433"/>
                  <a:pt x="402970" y="3334628"/>
                  <a:pt x="7027" y="2854856"/>
                </a:cubicBezTo>
                <a:lnTo>
                  <a:pt x="0" y="2845459"/>
                </a:lnTo>
                <a:lnTo>
                  <a:pt x="0" y="120411"/>
                </a:lnTo>
                <a:lnTo>
                  <a:pt x="74877" y="3022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max ECO II Series 2807 3-6S 1300KV Brushless Motor for RC Drone FPV Racing">
            <a:extLst>
              <a:ext uri="{FF2B5EF4-FFF2-40B4-BE49-F238E27FC236}">
                <a16:creationId xmlns:a16="http://schemas.microsoft.com/office/drawing/2014/main" id="{832BE5E0-397D-91FC-0542-F81143974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" b="-8"/>
          <a:stretch>
            <a:fillRect/>
          </a:stretch>
        </p:blipFill>
        <p:spPr bwMode="auto">
          <a:xfrm>
            <a:off x="5653684" y="200404"/>
            <a:ext cx="2367798" cy="2367798"/>
          </a:xfrm>
          <a:custGeom>
            <a:avLst/>
            <a:gdLst/>
            <a:ahLst/>
            <a:cxnLst/>
            <a:rect l="l" t="t" r="r" b="b"/>
            <a:pathLst>
              <a:path w="2367798" h="2367798">
                <a:moveTo>
                  <a:pt x="1183899" y="0"/>
                </a:moveTo>
                <a:cubicBezTo>
                  <a:pt x="1837748" y="0"/>
                  <a:pt x="2367798" y="530050"/>
                  <a:pt x="2367798" y="1183899"/>
                </a:cubicBezTo>
                <a:cubicBezTo>
                  <a:pt x="2367798" y="1837748"/>
                  <a:pt x="1837748" y="2367798"/>
                  <a:pt x="1183899" y="2367798"/>
                </a:cubicBezTo>
                <a:cubicBezTo>
                  <a:pt x="530050" y="2367798"/>
                  <a:pt x="0" y="1837748"/>
                  <a:pt x="0" y="1183899"/>
                </a:cubicBezTo>
                <a:cubicBezTo>
                  <a:pt x="0" y="530050"/>
                  <a:pt x="530050" y="0"/>
                  <a:pt x="118389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C4FD06-14B8-1DD0-0344-B6F3FBF40F24}"/>
              </a:ext>
            </a:extLst>
          </p:cNvPr>
          <p:cNvSpPr txBox="1"/>
          <p:nvPr/>
        </p:nvSpPr>
        <p:spPr>
          <a:xfrm>
            <a:off x="753111" y="2474698"/>
            <a:ext cx="4469130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Electronic Speed Controllers (ESCs)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Power Module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Load Cell – HX711 Amplifier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ESP32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16-bit ADC Module</a:t>
            </a:r>
          </a:p>
        </p:txBody>
      </p:sp>
      <p:pic>
        <p:nvPicPr>
          <p:cNvPr id="8" name="Picture 12" descr="ESC for Drones | Robodo">
            <a:extLst>
              <a:ext uri="{FF2B5EF4-FFF2-40B4-BE49-F238E27FC236}">
                <a16:creationId xmlns:a16="http://schemas.microsoft.com/office/drawing/2014/main" id="{4D2F6451-E063-B301-CEF8-63D8D3E89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982"/>
          <a:stretch>
            <a:fillRect/>
          </a:stretch>
        </p:blipFill>
        <p:spPr bwMode="auto">
          <a:xfrm>
            <a:off x="5717483" y="2323600"/>
            <a:ext cx="2303999" cy="2074050"/>
          </a:xfrm>
          <a:custGeom>
            <a:avLst/>
            <a:gdLst/>
            <a:ahLst/>
            <a:cxnLst/>
            <a:rect l="l" t="t" r="r" b="b"/>
            <a:pathLst>
              <a:path w="3238727" h="2915488">
                <a:moveTo>
                  <a:pt x="1619364" y="0"/>
                </a:moveTo>
                <a:cubicBezTo>
                  <a:pt x="2513714" y="0"/>
                  <a:pt x="3238727" y="725014"/>
                  <a:pt x="3238727" y="1619364"/>
                </a:cubicBezTo>
                <a:cubicBezTo>
                  <a:pt x="3238727" y="2122436"/>
                  <a:pt x="3009328" y="2571928"/>
                  <a:pt x="2649429" y="2868943"/>
                </a:cubicBezTo>
                <a:lnTo>
                  <a:pt x="2587186" y="2915488"/>
                </a:lnTo>
                <a:lnTo>
                  <a:pt x="651541" y="2915488"/>
                </a:lnTo>
                <a:lnTo>
                  <a:pt x="589298" y="2868943"/>
                </a:lnTo>
                <a:cubicBezTo>
                  <a:pt x="229399" y="2571928"/>
                  <a:pt x="0" y="2122436"/>
                  <a:pt x="0" y="1619364"/>
                </a:cubicBezTo>
                <a:cubicBezTo>
                  <a:pt x="0" y="725014"/>
                  <a:pt x="725014" y="0"/>
                  <a:pt x="16193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Buy YZC-133 Weighing Load Cell Sensor 10kg For Electronic Weighing Scale  Online at Robu.in">
            <a:extLst>
              <a:ext uri="{FF2B5EF4-FFF2-40B4-BE49-F238E27FC236}">
                <a16:creationId xmlns:a16="http://schemas.microsoft.com/office/drawing/2014/main" id="{DFF37DCA-2186-06D5-2872-66F8AFC0FF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8730408" y="249550"/>
            <a:ext cx="2074050" cy="2074050"/>
          </a:xfrm>
          <a:custGeom>
            <a:avLst/>
            <a:gdLst/>
            <a:ahLst/>
            <a:cxnLst/>
            <a:rect l="l" t="t" r="r" b="b"/>
            <a:pathLst>
              <a:path w="2743498" h="2743498">
                <a:moveTo>
                  <a:pt x="1371749" y="0"/>
                </a:moveTo>
                <a:cubicBezTo>
                  <a:pt x="2129345" y="0"/>
                  <a:pt x="2743498" y="614153"/>
                  <a:pt x="2743498" y="1371749"/>
                </a:cubicBezTo>
                <a:cubicBezTo>
                  <a:pt x="2743498" y="2129345"/>
                  <a:pt x="2129345" y="2743498"/>
                  <a:pt x="1371749" y="2743498"/>
                </a:cubicBezTo>
                <a:cubicBezTo>
                  <a:pt x="614153" y="2743498"/>
                  <a:pt x="0" y="2129345"/>
                  <a:pt x="0" y="1371749"/>
                </a:cubicBezTo>
                <a:cubicBezTo>
                  <a:pt x="0" y="614153"/>
                  <a:pt x="614153" y="0"/>
                  <a:pt x="137174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Buy ADS1115 16Bit ADC 4CH w/ Programmable Gain Amplifier | Robu">
            <a:extLst>
              <a:ext uri="{FF2B5EF4-FFF2-40B4-BE49-F238E27FC236}">
                <a16:creationId xmlns:a16="http://schemas.microsoft.com/office/drawing/2014/main" id="{9C2BAB35-5403-BFB2-8E67-C29C2CC7A3C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6" b="7867"/>
          <a:stretch>
            <a:fillRect/>
          </a:stretch>
        </p:blipFill>
        <p:spPr bwMode="auto">
          <a:xfrm>
            <a:off x="5788569" y="4552816"/>
            <a:ext cx="2171700" cy="17862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HX711 Load Cell Amplifier Module">
            <a:extLst>
              <a:ext uri="{FF2B5EF4-FFF2-40B4-BE49-F238E27FC236}">
                <a16:creationId xmlns:a16="http://schemas.microsoft.com/office/drawing/2014/main" id="{FD798730-0549-8FFB-9609-2AA4B93DC7A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t="28185" r="14780" b="27277"/>
          <a:stretch>
            <a:fillRect/>
          </a:stretch>
        </p:blipFill>
        <p:spPr bwMode="auto">
          <a:xfrm>
            <a:off x="8609828" y="2455787"/>
            <a:ext cx="2315210" cy="14859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250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DAEFE56-CC88-E650-6B21-1A32949C9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2" t="13333" r="13255" b="13475"/>
          <a:stretch>
            <a:fillRect/>
          </a:stretch>
        </p:blipFill>
        <p:spPr>
          <a:xfrm>
            <a:off x="1008075" y="995680"/>
            <a:ext cx="9824480" cy="55196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AB83AB-9660-3EA4-66BD-26EBFC20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36" y="371611"/>
            <a:ext cx="5124744" cy="624069"/>
          </a:xfrm>
        </p:spPr>
        <p:txBody>
          <a:bodyPr>
            <a:noAutofit/>
          </a:bodyPr>
          <a:lstStyle/>
          <a:p>
            <a:r>
              <a:rPr lang="en-US" sz="3600" b="1" dirty="0"/>
              <a:t>SYSTEM ARCHITECTURE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64793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FF593B6F-19C6-89E5-5855-657606396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442312"/>
              </p:ext>
            </p:extLst>
          </p:nvPr>
        </p:nvGraphicFramePr>
        <p:xfrm>
          <a:off x="4032751" y="699141"/>
          <a:ext cx="7110872" cy="5459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5A2D65D-35EB-69E3-2FCC-22587B0A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3029222"/>
            <a:ext cx="3318756" cy="799553"/>
          </a:xfrm>
        </p:spPr>
        <p:txBody>
          <a:bodyPr>
            <a:noAutofit/>
          </a:bodyPr>
          <a:lstStyle/>
          <a:p>
            <a:r>
              <a:rPr lang="en-US" sz="4200" b="1"/>
              <a:t>WORKFLOW</a:t>
            </a:r>
            <a:endParaRPr lang="en-IN" sz="4200" b="1" dirty="0"/>
          </a:p>
        </p:txBody>
      </p:sp>
    </p:spTree>
    <p:extLst>
      <p:ext uri="{BB962C8B-B14F-4D97-AF65-F5344CB8AC3E}">
        <p14:creationId xmlns:p14="http://schemas.microsoft.com/office/powerpoint/2010/main" val="387552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mechanical device&#10;&#10;AI-generated content may be incorrect.">
            <a:extLst>
              <a:ext uri="{FF2B5EF4-FFF2-40B4-BE49-F238E27FC236}">
                <a16:creationId xmlns:a16="http://schemas.microsoft.com/office/drawing/2014/main" id="{83EFEE38-74FB-D1DF-1DE4-AD5B837C5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75" y="1431985"/>
            <a:ext cx="6191909" cy="4765971"/>
          </a:xfrm>
          <a:prstGeom prst="rect">
            <a:avLst/>
          </a:prstGeom>
        </p:spPr>
      </p:pic>
      <p:pic>
        <p:nvPicPr>
          <p:cNvPr id="5" name="Picture 4" descr="A close-up of a propeller&#10;&#10;AI-generated content may be incorrect.">
            <a:extLst>
              <a:ext uri="{FF2B5EF4-FFF2-40B4-BE49-F238E27FC236}">
                <a16:creationId xmlns:a16="http://schemas.microsoft.com/office/drawing/2014/main" id="{7D463373-BAA9-3B70-444E-F31391F8F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421" y="1431984"/>
            <a:ext cx="4785504" cy="4765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CE1DAF-0D90-6448-F05E-CCE97CF2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8" y="421403"/>
            <a:ext cx="5100682" cy="613283"/>
          </a:xfrm>
        </p:spPr>
        <p:txBody>
          <a:bodyPr>
            <a:noAutofit/>
          </a:bodyPr>
          <a:lstStyle/>
          <a:p>
            <a:r>
              <a:rPr lang="en-US" sz="3600" b="1" dirty="0"/>
              <a:t>MECHANICAL DESIGN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72123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AAD7F6-94A6-2FA9-57F6-C24AFB4775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" t="7109" r="3084" b="5669"/>
          <a:stretch>
            <a:fillRect/>
          </a:stretch>
        </p:blipFill>
        <p:spPr bwMode="auto">
          <a:xfrm>
            <a:off x="551498" y="1310640"/>
            <a:ext cx="5283200" cy="50698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FB8553-C233-85CF-B127-6E29B4F4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19" y="365125"/>
            <a:ext cx="8773160" cy="79311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EXPERIMENTAL SETUP &amp; CIRCUIT CONNECTION</a:t>
            </a:r>
            <a:endParaRPr lang="en-IN" sz="3600" b="1" dirty="0"/>
          </a:p>
        </p:txBody>
      </p:sp>
      <p:pic>
        <p:nvPicPr>
          <p:cNvPr id="5" name="Picture 4" descr="A black rectangular device with wires and wires&#10;&#10;AI-generated content may be incorrect.">
            <a:extLst>
              <a:ext uri="{FF2B5EF4-FFF2-40B4-BE49-F238E27FC236}">
                <a16:creationId xmlns:a16="http://schemas.microsoft.com/office/drawing/2014/main" id="{9995A3B4-3E7B-39E1-0C2F-98D66B6E75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8" t="25627" r="19898" b="21155"/>
          <a:stretch>
            <a:fillRect/>
          </a:stretch>
        </p:blipFill>
        <p:spPr bwMode="auto">
          <a:xfrm>
            <a:off x="6184581" y="1838959"/>
            <a:ext cx="5455921" cy="36911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751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AFA5-8119-86FE-4510-52E2ADBE4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45" y="2597147"/>
            <a:ext cx="3479808" cy="166370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DASHBOARD </a:t>
            </a:r>
            <a:br>
              <a:rPr lang="en-US" sz="3200" b="1" dirty="0"/>
            </a:br>
            <a:r>
              <a:rPr lang="en-US" sz="3200" b="1" dirty="0"/>
              <a:t>AND </a:t>
            </a:r>
            <a:br>
              <a:rPr lang="en-US" sz="3200" b="1" dirty="0"/>
            </a:br>
            <a:r>
              <a:rPr lang="en-US" sz="3200" b="1" dirty="0"/>
              <a:t>CONTROL SYSTEM</a:t>
            </a:r>
            <a:endParaRPr lang="en-IN" sz="3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DAA999-2279-47EF-F3F7-4D8E3715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274" y="3903760"/>
            <a:ext cx="8410726" cy="251479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1D7A8D-EB51-4643-E7E5-A410342F8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6" b="35637"/>
          <a:stretch>
            <a:fillRect/>
          </a:stretch>
        </p:blipFill>
        <p:spPr>
          <a:xfrm>
            <a:off x="3781273" y="377231"/>
            <a:ext cx="8410727" cy="352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37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3148-F3A4-7827-2F3F-3F918278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23" y="339359"/>
            <a:ext cx="6650620" cy="792343"/>
          </a:xfrm>
        </p:spPr>
        <p:txBody>
          <a:bodyPr>
            <a:normAutofit/>
          </a:bodyPr>
          <a:lstStyle/>
          <a:p>
            <a:r>
              <a:rPr lang="en-US" sz="3600" b="1" dirty="0"/>
              <a:t>EXPERIMENTAL TEST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2A25A-B747-C520-C43B-BEB7F905A05A}"/>
              </a:ext>
            </a:extLst>
          </p:cNvPr>
          <p:cNvSpPr txBox="1"/>
          <p:nvPr/>
        </p:nvSpPr>
        <p:spPr>
          <a:xfrm>
            <a:off x="690623" y="1274669"/>
            <a:ext cx="1081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	Experimental testing was conducted on </a:t>
            </a:r>
            <a:r>
              <a:rPr lang="en-IN" sz="2000" b="1" dirty="0"/>
              <a:t>EMAX 1500 KV BLDC motor </a:t>
            </a:r>
            <a:r>
              <a:rPr lang="en-IN" sz="2000" dirty="0"/>
              <a:t>using a </a:t>
            </a:r>
            <a:r>
              <a:rPr lang="en-IN" sz="2000" b="1" dirty="0"/>
              <a:t>10-inch propeller</a:t>
            </a:r>
            <a:r>
              <a:rPr lang="en-IN" sz="2000" dirty="0"/>
              <a:t> mounted on the developed thrust measurement rig.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7D950-D760-2458-0EF5-21BAFFB739B9}"/>
              </a:ext>
            </a:extLst>
          </p:cNvPr>
          <p:cNvSpPr txBox="1"/>
          <p:nvPr/>
        </p:nvSpPr>
        <p:spPr>
          <a:xfrm>
            <a:off x="690623" y="2268488"/>
            <a:ext cx="10810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000"/>
            </a:lvl1pPr>
          </a:lstStyle>
          <a:p>
            <a:r>
              <a:rPr lang="en-IN" dirty="0"/>
              <a:t>The following are the performance parameters measured upto 40% throttle from the dashboard.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B40A8A-4130-8715-9BDD-45E601815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44824"/>
              </p:ext>
            </p:extLst>
          </p:nvPr>
        </p:nvGraphicFramePr>
        <p:xfrm>
          <a:off x="690623" y="2772919"/>
          <a:ext cx="10810754" cy="35463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2511">
                  <a:extLst>
                    <a:ext uri="{9D8B030D-6E8A-4147-A177-3AD203B41FA5}">
                      <a16:colId xmlns:a16="http://schemas.microsoft.com/office/drawing/2014/main" val="104134336"/>
                    </a:ext>
                  </a:extLst>
                </a:gridCol>
                <a:gridCol w="2123263">
                  <a:extLst>
                    <a:ext uri="{9D8B030D-6E8A-4147-A177-3AD203B41FA5}">
                      <a16:colId xmlns:a16="http://schemas.microsoft.com/office/drawing/2014/main" val="1645712902"/>
                    </a:ext>
                  </a:extLst>
                </a:gridCol>
                <a:gridCol w="2154469">
                  <a:extLst>
                    <a:ext uri="{9D8B030D-6E8A-4147-A177-3AD203B41FA5}">
                      <a16:colId xmlns:a16="http://schemas.microsoft.com/office/drawing/2014/main" val="4194695429"/>
                    </a:ext>
                  </a:extLst>
                </a:gridCol>
                <a:gridCol w="2098057">
                  <a:extLst>
                    <a:ext uri="{9D8B030D-6E8A-4147-A177-3AD203B41FA5}">
                      <a16:colId xmlns:a16="http://schemas.microsoft.com/office/drawing/2014/main" val="2597093924"/>
                    </a:ext>
                  </a:extLst>
                </a:gridCol>
                <a:gridCol w="2082454">
                  <a:extLst>
                    <a:ext uri="{9D8B030D-6E8A-4147-A177-3AD203B41FA5}">
                      <a16:colId xmlns:a16="http://schemas.microsoft.com/office/drawing/2014/main" val="2053200969"/>
                    </a:ext>
                  </a:extLst>
                </a:gridCol>
              </a:tblGrid>
              <a:tr h="9958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THROTTLE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(in %)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VOLTAGE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(in V)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CURRENT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(in A)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THRUST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(in kg)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POWER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(in W)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0200414"/>
                  </a:ext>
                </a:extLst>
              </a:tr>
              <a:tr h="631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18.477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0.364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0.084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6.726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3634843"/>
                  </a:ext>
                </a:extLst>
              </a:tr>
              <a:tr h="641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20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18.36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2.313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0.283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42.467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0218243"/>
                  </a:ext>
                </a:extLst>
              </a:tr>
              <a:tr h="6341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30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18.138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6.111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0.577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110.842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9699201"/>
                  </a:ext>
                </a:extLst>
              </a:tr>
              <a:tr h="6433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40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17.797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11.809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0.957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210.165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7085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59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n a screen&#10;&#10;AI-generated content may be incorrect.">
            <a:extLst>
              <a:ext uri="{FF2B5EF4-FFF2-40B4-BE49-F238E27FC236}">
                <a16:creationId xmlns:a16="http://schemas.microsoft.com/office/drawing/2014/main" id="{D664140D-A0D9-E675-9BA9-343D8540EB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7" r="11802" b="5419"/>
          <a:stretch>
            <a:fillRect/>
          </a:stretch>
        </p:blipFill>
        <p:spPr bwMode="auto">
          <a:xfrm>
            <a:off x="7442412" y="143086"/>
            <a:ext cx="4469034" cy="2093414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graph on a screen&#10;&#10;AI-generated content may be incorrect.">
            <a:extLst>
              <a:ext uri="{FF2B5EF4-FFF2-40B4-BE49-F238E27FC236}">
                <a16:creationId xmlns:a16="http://schemas.microsoft.com/office/drawing/2014/main" id="{CBA92123-BE4C-62A3-320A-7DD4EF7FA7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5" r="8406" b="4642"/>
          <a:stretch>
            <a:fillRect/>
          </a:stretch>
        </p:blipFill>
        <p:spPr bwMode="auto">
          <a:xfrm>
            <a:off x="7444596" y="2339500"/>
            <a:ext cx="4466850" cy="215376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graph on a screen&#10;&#10;AI-generated content may be incorrect.">
            <a:extLst>
              <a:ext uri="{FF2B5EF4-FFF2-40B4-BE49-F238E27FC236}">
                <a16:creationId xmlns:a16="http://schemas.microsoft.com/office/drawing/2014/main" id="{F3963995-D78B-510A-3307-FA76F1E02A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6" r="7523" b="4963"/>
          <a:stretch>
            <a:fillRect/>
          </a:stretch>
        </p:blipFill>
        <p:spPr bwMode="auto">
          <a:xfrm>
            <a:off x="7444596" y="4596263"/>
            <a:ext cx="4466850" cy="2118651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CA18C-9210-3F28-25A4-5493F67F2376}"/>
              </a:ext>
            </a:extLst>
          </p:cNvPr>
          <p:cNvSpPr txBox="1"/>
          <p:nvPr/>
        </p:nvSpPr>
        <p:spPr>
          <a:xfrm>
            <a:off x="609725" y="2110347"/>
            <a:ext cx="6144758" cy="36721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572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The graphs show the relationship between throttle input and key performance parameters such as thrust, current, and power.</a:t>
            </a:r>
          </a:p>
          <a:p>
            <a:pPr marL="4572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The results indicate smooth and consistent performance across the operating range, confirming reliable motor–propeller behavior.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66BEE-6BD4-C99F-7BFD-15E743C5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25" y="552091"/>
            <a:ext cx="6308660" cy="1399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424886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824A7-A690-1BE6-1EAE-4F232B19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501250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 dirty="0">
                <a:solidFill>
                  <a:srgbClr val="FFFFFF"/>
                </a:solidFill>
              </a:rPr>
              <a:t>ADVANTAGES</a:t>
            </a:r>
            <a:endParaRPr lang="en-IN" sz="3700" b="1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09768-72D1-1204-DFBF-2E08C9FE1C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Compact and lightweight design suitable for laboratory or field use</a:t>
            </a:r>
            <a:r>
              <a:rPr lang="en-US" altLang="en-US" sz="2000" dirty="0"/>
              <a:t>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Low-cost setup using easily available components.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High accuracy in measuring thrust, voltage, current, and RPM.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Real-time data monitoring and visualization through a user-friendly dashboard.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Flexible design compatible with various BLDC motors and propeller types.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Reliable and repeatable performance testing for consistent results.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Easy data logging and analysis for efficiency evaluation</a:t>
            </a:r>
          </a:p>
        </p:txBody>
      </p:sp>
    </p:spTree>
    <p:extLst>
      <p:ext uri="{BB962C8B-B14F-4D97-AF65-F5344CB8AC3E}">
        <p14:creationId xmlns:p14="http://schemas.microsoft.com/office/powerpoint/2010/main" val="2483800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DA9A8529-921B-B5DE-54F2-F62B9DF7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51" r="4417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D1C5A-AB78-A43F-4B0D-D95EBAC3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 dirty="0"/>
              <a:t>FUTURE SCOPE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02EB-0D6F-8989-360A-ADEEA4705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system can be further enhanced by</a:t>
            </a:r>
          </a:p>
          <a:p>
            <a:pPr algn="just"/>
            <a:r>
              <a:rPr lang="en-US" sz="2000" dirty="0"/>
              <a:t>Automating the entire testing and data acquisition process to improve efficiency and accuracy.</a:t>
            </a:r>
          </a:p>
          <a:p>
            <a:pPr algn="just"/>
            <a:r>
              <a:rPr lang="en-US" sz="2000" dirty="0"/>
              <a:t>Integration of advanced sensors can enable additional performance metrics such as vibration and noise. </a:t>
            </a:r>
          </a:p>
          <a:p>
            <a:pPr algn="just"/>
            <a:r>
              <a:rPr lang="en-US" sz="2000" dirty="0"/>
              <a:t>Cloud-based analytics for remote monitoring and comparative performance studies.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6336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etter of approval for a design proposal&#10;&#10;AI-generated content may be incorrect.">
            <a:extLst>
              <a:ext uri="{FF2B5EF4-FFF2-40B4-BE49-F238E27FC236}">
                <a16:creationId xmlns:a16="http://schemas.microsoft.com/office/drawing/2014/main" id="{DFE595EB-281A-C2C0-8295-8CEC9A1F6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524" y="0"/>
            <a:ext cx="6280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55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E9AD71-3A62-BD0B-97DD-0F4BD1CE695D}"/>
              </a:ext>
            </a:extLst>
          </p:cNvPr>
          <p:cNvSpPr txBox="1">
            <a:spLocks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940312A5-F094-67DA-2706-C6149196D2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84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295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655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PERFORMANCE ANALYSIS OF AERIAL ROBOT MOTORS</vt:lpstr>
      <vt:lpstr>PowerPoint Presentation</vt:lpstr>
      <vt:lpstr>EXISTING PRODUCTS</vt:lpstr>
      <vt:lpstr>HARDWARE COMPONENTS</vt:lpstr>
      <vt:lpstr>SYSTEM ARCHITECTURE</vt:lpstr>
      <vt:lpstr>WORKFLOW</vt:lpstr>
      <vt:lpstr>MECHANICAL DESIGN</vt:lpstr>
      <vt:lpstr>EXPERIMENTAL SETUP &amp; CIRCUIT CONNECTION</vt:lpstr>
      <vt:lpstr>DASHBOARD  AND  CONTROL SYSTEM</vt:lpstr>
      <vt:lpstr>EXPERIMENTAL TEST</vt:lpstr>
      <vt:lpstr>PERFORMANCE ANALYSIS</vt:lpstr>
      <vt:lpstr>ADVANTAGES</vt:lpstr>
      <vt:lpstr>FUTURE 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Bhairav Shakthi U E 22BMC004</dc:creator>
  <cp:lastModifiedBy>Bhairav Shakthi U E 22BMC004</cp:lastModifiedBy>
  <cp:revision>8</cp:revision>
  <dcterms:created xsi:type="dcterms:W3CDTF">2025-10-31T15:57:17Z</dcterms:created>
  <dcterms:modified xsi:type="dcterms:W3CDTF">2025-11-26T19:17:43Z</dcterms:modified>
</cp:coreProperties>
</file>